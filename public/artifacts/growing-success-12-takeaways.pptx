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731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CLASSROOM CHEAT SHEET · ONTARIO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10515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i="1" spc="-200" kern="0" dirty="0">
                <a:solidFill>
                  <a:srgbClr val="F5F5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Growing Success.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1097280" y="4572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600" kern="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TAKEAWAYS TO TRANSFORM OUR PRACTICE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5349240"/>
            <a:ext cx="3200400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6355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28   ·   BASED ON GROWING SUCCESS (ONTARIO MINISTRY OF EDUCATION)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GROWING SUCCESS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384280" y="347472"/>
            <a:ext cx="365760" cy="2011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91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SUCCESS · 12 TAKEAWAYS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3258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Growing Success?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85800" y="2743200"/>
            <a:ext cx="1081735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 to assessment, evaluation, and reporting policy for all Ontario public schools.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 for best practice, professional learning, and collegial discourse.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 that guides assessment and evaluation policy across the province.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is a cheat sheet — it summarizes the key takeaways in 12 chapters.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LINE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384280" y="347472"/>
            <a:ext cx="365760" cy="2011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91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SUCCESS · 12 TAKEAWAYS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2011680"/>
            <a:ext cx="137160" cy="2834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2880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 primary purpose of assessment and evaluation is to improve student learning.”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005840" y="5120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GROWING SUCCESS, FIRST LINE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5532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sifting and sorting. Grades are not rewards for hard work. Assessment is learning.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384280" y="347472"/>
            <a:ext cx="365760" cy="2011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91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SUCCESS · 12 TAKEAWAYS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TAKEAWAYS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3258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inside.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685800" y="269748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670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88720" y="267004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Purpose &amp; Fundamental Principles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3291840"/>
            <a:ext cx="365760" cy="36576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264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8720" y="326440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Skills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3886200"/>
            <a:ext cx="365760" cy="36576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858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88720" y="385876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Achievement Charts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5800" y="4480560"/>
            <a:ext cx="365760" cy="365760"/>
          </a:xfrm>
          <a:prstGeom prst="ellipse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453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88720" y="445312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85800" y="5074920"/>
            <a:ext cx="365760" cy="36576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5047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88720" y="504748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Goals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85800" y="5669280"/>
            <a:ext cx="365760" cy="365760"/>
          </a:xfrm>
          <a:prstGeom prst="ellipse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5641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88720" y="564184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 For Learning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63640" y="2697480"/>
            <a:ext cx="365760" cy="36576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2670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766560" y="267004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 As Learning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263640" y="3291840"/>
            <a:ext cx="365760" cy="36576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3264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766560" y="326440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Criteria vs. Checklists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263640" y="3886200"/>
            <a:ext cx="365760" cy="36576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3858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766560" y="385876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&amp; Metacognition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263640" y="4480560"/>
            <a:ext cx="365760" cy="36576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63640" y="4453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766560" y="445312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 Of Learning (Evaluation)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6263640" y="5074920"/>
            <a:ext cx="365760" cy="365760"/>
          </a:xfrm>
          <a:prstGeom prst="ellipse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63640" y="5047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766560" y="504748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6263640" y="5669280"/>
            <a:ext cx="365760" cy="365760"/>
          </a:xfrm>
          <a:prstGeom prst="ellipse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5641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766560" y="564184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Reporting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CCFB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i="1" spc="-400" kern="0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4846320" y="2651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301752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Purpose &amp; Fundamental Principles.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4846320" y="5394960"/>
            <a:ext cx="2286000" cy="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SUCCESS · 12 TAKEAWAYS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· TAKEAWAY 01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384280" y="347472"/>
            <a:ext cx="365760" cy="2011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91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SUCCESS · 12 TAKEAWAYS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3258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Purpose &amp; Fundamental Principles.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Growing Success — Introduction &amp; Fundamental Principles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834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3154680"/>
            <a:ext cx="10817352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337560"/>
            <a:ext cx="53035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purpose of assessment and evaluation is to improve student learning.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is more than a mark. It is an environment, an approach, and a relationship.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practice must meet the seven fundamental principles.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away from the 'sift and sort' mentality of evaluation.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3291840"/>
            <a:ext cx="5257800" cy="297180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429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SEVEN PRINCIPLES · ASSESSMENTS ARE…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46520" y="3703320"/>
            <a:ext cx="49377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Fair, transparent, and equitable for all students.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Supportive of all students — including special education, language learners, and First Nation, Métis, and Inuit learners.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to relate to curriculum, interests, learning styles, needs, and experiences.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Communicated clearly to students and parents throughout the year.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Ongoing, varied, and spread over time — many opportunities to show learning.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descriptive feedback that is clear, specific, meaningful, and timely.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develop students' self-assessment skills and next-step planning.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E0E7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i="1" spc="-400" kern="0" dirty="0">
                <a:solidFill>
                  <a:srgbClr val="4338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4846320" y="2651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301752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Skills.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4846320" y="5394960"/>
            <a:ext cx="2286000" cy="0"/>
          </a:xfrm>
          <a:prstGeom prst="line">
            <a:avLst/>
          </a:prstGeom>
          <a:noFill/>
          <a:ln w="15875">
            <a:solidFill>
              <a:srgbClr val="4338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SUCCESS · 12 TAKEAWAYS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SKILLS · TAKEAWAY 02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384280" y="347472"/>
            <a:ext cx="365760" cy="2011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91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SUCCESS · 12 TAKEAWAYS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3258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Skills.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Success — Chapter on Learning Skills &amp; Work Habits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834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3154680"/>
            <a:ext cx="10817352" cy="0"/>
          </a:xfrm>
          <a:prstGeom prst="line">
            <a:avLst/>
          </a:prstGeom>
          <a:noFill/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383280"/>
            <a:ext cx="1081735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skills are a very important but separate part of student learning.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are based on what students learned; learning skills describe how they got there.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must explicitly teach, model, and follow up on each skill throughout the year.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reflect curriculum expectations only — lateness and neatness are not in any curriculum.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FEF3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i="1" spc="-400" kern="0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4846320" y="2651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301752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Achievement Charts.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4846320" y="5394960"/>
            <a:ext cx="2286000" cy="0"/>
          </a:xfrm>
          <a:prstGeom prst="line">
            <a:avLst/>
          </a:prstGeom>
          <a:noFill/>
          <a:ln w="15875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SUCCESS · 12 TAKEAWAYS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 CHARTS · TAKEAWAY 03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384280" y="347472"/>
            <a:ext cx="365760" cy="2011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91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SUCCESS · 12 TAKEAWAYS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03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3258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Achievement Charts.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Success — The Achievement Chart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834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3154680"/>
            <a:ext cx="10817352" cy="0"/>
          </a:xfrm>
          <a:prstGeom prst="line">
            <a:avLst/>
          </a:prstGeom>
          <a:noFill/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383280"/>
            <a:ext cx="1081735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mark curriculum expectations through tasks built around each subject's achievement chart criteria.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at least three of the four KICA categories (Knowledge, Thinking, Communication, Application) for any evaluation task.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descriptors in each subject offer great ideas for how to assess expectations.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Rich, authentic tasks pull from multiple chart sections — that's what makes them balanced.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FFE4E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i="1" spc="-400" kern="0" dirty="0">
                <a:solidFill>
                  <a:srgbClr val="9F1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4846320" y="2651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301752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Levels.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4846320" y="5394960"/>
            <a:ext cx="2286000" cy="0"/>
          </a:xfrm>
          <a:prstGeom prst="line">
            <a:avLst/>
          </a:prstGeom>
          <a:noFill/>
          <a:ln w="15875">
            <a:solidFill>
              <a:srgbClr val="9F12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SUCCESS · 12 TAKEAWAYS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· TAKEAWAY 04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384280" y="347472"/>
            <a:ext cx="365760" cy="201168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91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SUCCESS · 12 TAKEAWAYS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04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3258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Levels.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Success — Levels of Achievement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834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3154680"/>
            <a:ext cx="10817352" cy="0"/>
          </a:xfrm>
          <a:prstGeom prst="line">
            <a:avLst/>
          </a:prstGeom>
          <a:noFill/>
          <a:ln w="12700">
            <a:solidFill>
              <a:srgbClr val="9F12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337560"/>
            <a:ext cx="5760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is the provincial standard.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bell curve. There is no expectation of how many students should meet the standard.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standards for levels requires exemplars from the Ministry, the boards, and moderated marking with colleagues.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are not compared to each other — assessment is criterion-based.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3337560"/>
            <a:ext cx="4846320" cy="502920"/>
          </a:xfrm>
          <a:prstGeom prst="rect">
            <a:avLst/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3337560"/>
            <a:ext cx="73152" cy="502920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3410712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9F1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35240" y="3429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Surpasses the standard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698480" y="34290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80–100%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20840" y="3904488"/>
            <a:ext cx="4846320" cy="502920"/>
          </a:xfrm>
          <a:prstGeom prst="rect">
            <a:avLst/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20840" y="3904488"/>
            <a:ext cx="73152" cy="502920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39776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9F1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635240" y="39959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the standard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698480" y="399592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70–79%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20840" y="4471416"/>
            <a:ext cx="4846320" cy="502920"/>
          </a:xfrm>
          <a:prstGeom prst="rect">
            <a:avLst/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20840" y="4471416"/>
            <a:ext cx="73152" cy="502920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4544568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9F1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635240" y="456285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Approaches the standard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698480" y="456285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60–69%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20840" y="5038344"/>
            <a:ext cx="4846320" cy="502920"/>
          </a:xfrm>
          <a:prstGeom prst="rect">
            <a:avLst/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20840" y="5038344"/>
            <a:ext cx="73152" cy="502920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5111496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9F1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635240" y="512978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below the standard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698480" y="5129784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50–59%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20840" y="5605272"/>
            <a:ext cx="4846320" cy="502920"/>
          </a:xfrm>
          <a:prstGeom prst="rect">
            <a:avLst/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20840" y="5605272"/>
            <a:ext cx="73152" cy="502920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5678424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9F1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635240" y="56967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Remedial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698480" y="569671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50%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F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i="1" spc="-400" kern="0" dirty="0">
                <a:solidFill>
                  <a:srgbClr val="6B21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4846320" y="2651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301752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Goals.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4846320" y="5394960"/>
            <a:ext cx="2286000" cy="0"/>
          </a:xfrm>
          <a:prstGeom prst="line">
            <a:avLst/>
          </a:prstGeom>
          <a:noFill/>
          <a:ln w="15875">
            <a:solidFill>
              <a:srgbClr val="6B21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SUCCESS · 12 TAKEAWAYS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GOALS · TAKEAWAY 05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384280" y="347472"/>
            <a:ext cx="365760" cy="201168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91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SUCCESS · 12 TAKEAWAYS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05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3258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Goals.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Success — Learning Goals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834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3154680"/>
            <a:ext cx="10817352" cy="0"/>
          </a:xfrm>
          <a:prstGeom prst="line">
            <a:avLst/>
          </a:prstGeom>
          <a:noFill/>
          <a:ln w="12700">
            <a:solidFill>
              <a:srgbClr val="6B21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383280"/>
            <a:ext cx="1081735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goals are set by teachers based on curricula.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help students connect concepts.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help communicate complicated curriculum to students and families.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help teachers map out assessment and instruction.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DCFC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i="1" spc="-400" kern="0" dirty="0">
                <a:solidFill>
                  <a:srgbClr val="1453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4846320" y="2651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301752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 For Learning.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4846320" y="5394960"/>
            <a:ext cx="2286000" cy="0"/>
          </a:xfrm>
          <a:prstGeom prst="line">
            <a:avLst/>
          </a:prstGeom>
          <a:noFill/>
          <a:ln w="15875">
            <a:solidFill>
              <a:srgbClr val="1453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SUCCESS · 12 TAKEAWAYS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FOR · TAKEAWAY 06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384280" y="347472"/>
            <a:ext cx="365760" cy="201168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91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SUCCESS · 12 TAKEAWAYS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06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3258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 For Learning.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Success — Assessment for Learning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834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3154680"/>
            <a:ext cx="10817352" cy="0"/>
          </a:xfrm>
          <a:prstGeom prst="line">
            <a:avLst/>
          </a:prstGeom>
          <a:noFill/>
          <a:ln w="12700">
            <a:solidFill>
              <a:srgbClr val="1453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383280"/>
            <a:ext cx="1081735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FOR learning is everything we do to inform our instruction.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simple: observations, checklists, exit tickets — excellent data, little work.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abundance of evidence lets us intervene and change instruction.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should NOT count on the report card (including homework).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i="1" spc="-400" kern="0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4846320" y="2651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301752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 As Learning.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4846320" y="5394960"/>
            <a:ext cx="2286000" cy="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SUCCESS · 12 TAKEAWAYS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AS · TAKEAWAY 07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384280" y="347472"/>
            <a:ext cx="365760" cy="20116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91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SUCCESS · 12 TAKEAWAYS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07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3258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 As Learning.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Success — Assessment as Learning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834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3154680"/>
            <a:ext cx="10817352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383280"/>
            <a:ext cx="1081735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learn best when they know what they are learning and how they are progressing.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formal (self-assessments) or informal (polls, bansho, conferencing, learning goals).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Metacognition is a skill — it takes instruction, modelling, and practice.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strong learning skills leads to insightful metacognition.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CCFBF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i="1" spc="-400" kern="0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4846320" y="2651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08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301752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Criteria vs. Checklists.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4846320" y="5394960"/>
            <a:ext cx="2286000" cy="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SUCCESS · 12 TAKEAWAYS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 · TAKEAWAY 08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384280" y="347472"/>
            <a:ext cx="365760" cy="2011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91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SUCCESS · 12 TAKEAWAYS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08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3258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Criteria vs. Checklists.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Success — Success Criteria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834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3154680"/>
            <a:ext cx="10817352" cy="0"/>
          </a:xfrm>
          <a:prstGeom prst="line">
            <a:avLst/>
          </a:prstGeom>
          <a:noFill/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383280"/>
            <a:ext cx="1081735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 use qualifiers and are directly related to (or replace) rubrics. They ARE the evaluation.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Checklists are procedural — they may expand on one success criterion (e.g. what makes a good paragraph).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the learning cycle and having criteria in advance makes instruction more effective.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can be co-created or teacher-created — as long as students know them throughout the cycle.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E0E7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i="1" spc="-400" kern="0" dirty="0">
                <a:solidFill>
                  <a:srgbClr val="4338C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4846320" y="2651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09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301752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&amp; Metacognition.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4846320" y="5394960"/>
            <a:ext cx="2286000" cy="0"/>
          </a:xfrm>
          <a:prstGeom prst="line">
            <a:avLst/>
          </a:prstGeom>
          <a:noFill/>
          <a:ln w="15875">
            <a:solidFill>
              <a:srgbClr val="4338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SUCCESS · 12 TAKEAWAYS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· TAKEAWAY 09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384280" y="347472"/>
            <a:ext cx="365760" cy="2011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91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SUCCESS · 12 TAKEAWAYS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09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3258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 &amp; Metacognition.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Success — Feedback &amp; Metacognition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834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3154680"/>
            <a:ext cx="10817352" cy="0"/>
          </a:xfrm>
          <a:prstGeom prst="line">
            <a:avLst/>
          </a:prstGeom>
          <a:noFill/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337560"/>
            <a:ext cx="5760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Front-load feedback: it is most useful when it is early, timely, and specific — before an evaluation task.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what is there so far, not just what is lacking. Deficit feedback can undo a student's self-perception.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metacognition to create autonomous learners — across units, years, and grades.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are not the gatekeepers of knowledge or marks — we are the lead life-long learners.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20840" y="3337560"/>
            <a:ext cx="2377440" cy="1280160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0840" y="3337560"/>
            <a:ext cx="2377440" cy="914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3520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58000" y="38404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is working and what needs improvement with specific examples.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89720" y="3337560"/>
            <a:ext cx="2377440" cy="1280160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89720" y="3337560"/>
            <a:ext cx="2377440" cy="914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0" y="3520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326880" y="384048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Front-load feedback early in the learning cycle so students can apply it.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20840" y="4754880"/>
            <a:ext cx="2377440" cy="1280160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20840" y="4754880"/>
            <a:ext cx="2377440" cy="914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0" y="4937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858000" y="52578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 few concrete, targeted areas for improvement.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89720" y="4754880"/>
            <a:ext cx="2377440" cy="1280160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89720" y="4754880"/>
            <a:ext cx="2377440" cy="914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26880" y="4937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STRENGTHS-FIRST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326880" y="525780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what is there — protect the learner's self-perception.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FEF3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i="1" spc="-400" kern="0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4846320" y="2651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301752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 Of Learning (Evaluation).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4846320" y="5394960"/>
            <a:ext cx="2286000" cy="0"/>
          </a:xfrm>
          <a:prstGeom prst="line">
            <a:avLst/>
          </a:prstGeom>
          <a:noFill/>
          <a:ln w="15875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SUCCESS · 12 TAKEAWAYS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OF · TAKEAWAY 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384280" y="347472"/>
            <a:ext cx="365760" cy="2011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91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SUCCESS · 12 TAKEAWAYS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10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3258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 Of Learning (Evaluation).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Success — Assessment of Learning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834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3154680"/>
            <a:ext cx="10817352" cy="0"/>
          </a:xfrm>
          <a:prstGeom prst="line">
            <a:avLst/>
          </a:prstGeom>
          <a:noFill/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383280"/>
            <a:ext cx="1081735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OF learning and evaluation are the same — based on the final product of learning.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only thing that should count on the report card.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evaluations are rich, personal, and based on overall expectations using at least three of four KICA sections.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levels — even for tests — to eliminate 'fake level 4s' and 'fake failures.'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should feel capable and prepared before the final task, because of the feedback along the way.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FFE4E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i="1" spc="-400" kern="0" dirty="0">
                <a:solidFill>
                  <a:srgbClr val="9F12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4846320" y="2651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301752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Differentiation.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4846320" y="5394960"/>
            <a:ext cx="2286000" cy="0"/>
          </a:xfrm>
          <a:prstGeom prst="line">
            <a:avLst/>
          </a:prstGeom>
          <a:noFill/>
          <a:ln w="15875">
            <a:solidFill>
              <a:srgbClr val="9F12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SUCCESS · 12 TAKEAWAYS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 · TAKEAWAY 11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384280" y="347472"/>
            <a:ext cx="365760" cy="201168"/>
          </a:xfrm>
          <a:prstGeom prst="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91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SUCCESS · 12 TAKEAWAYS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11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3258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Differentiation.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Success — Differentiation &amp; Special Education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834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3154680"/>
            <a:ext cx="10817352" cy="0"/>
          </a:xfrm>
          <a:prstGeom prst="line">
            <a:avLst/>
          </a:prstGeom>
          <a:noFill/>
          <a:ln w="12700">
            <a:solidFill>
              <a:srgbClr val="9F12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383280"/>
            <a:ext cx="1081735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IEP.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universal accommodations for all instead of making different learning for each student.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to your MART or Special Education lead.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guidance when in doubt.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F3E8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i="1" spc="-400" kern="0" dirty="0">
                <a:solidFill>
                  <a:srgbClr val="6B21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4846320" y="2651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846320" y="301752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Reporting.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4846320" y="5394960"/>
            <a:ext cx="2286000" cy="0"/>
          </a:xfrm>
          <a:prstGeom prst="line">
            <a:avLst/>
          </a:prstGeom>
          <a:noFill/>
          <a:ln w="15875">
            <a:solidFill>
              <a:srgbClr val="6B21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SUCCESS · 12 TAKEAWAYS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· TAKEAWAY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384280" y="347472"/>
            <a:ext cx="365760" cy="201168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384280" y="329184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9525">
            <a:solidFill>
              <a:srgbClr val="E5E3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SUCCESS · 12 TAKEAWAYS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005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12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3258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0B0F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Reporting.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85800" y="23317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Success — Reporting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834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5800" y="3154680"/>
            <a:ext cx="10817352" cy="0"/>
          </a:xfrm>
          <a:prstGeom prst="line">
            <a:avLst/>
          </a:prstGeom>
          <a:noFill/>
          <a:ln w="12700">
            <a:solidFill>
              <a:srgbClr val="6B21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383280"/>
            <a:ext cx="10817352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levels. Levels have standard conversions to letter grades and percentages.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determine a grade, use the most recent, most consistent data of Assessment OF learning — refer to FOR and AS if needed.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reflect the quality of WHAT was learned, not how or when it was learned.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learning skills and marks separate. Don't use marks to penalize students — it's an equity issue.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731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CLOSE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10515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i="1" spc="-200" kern="0" dirty="0">
                <a:solidFill>
                  <a:srgbClr val="F5F5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art, not a science.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1097280" y="4572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600" kern="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IS HUMAN COMMUNICATION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5349240"/>
            <a:ext cx="3200400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6355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28   ·   — SUTTON, P.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2026-04-10T14:19:56Z</dcterms:created>
  <dcterms:modified xsi:type="dcterms:W3CDTF">2026-04-10T14:19:56Z</dcterms:modified>
</cp:coreProperties>
</file>